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83" r:id="rId2"/>
    <p:sldId id="257" r:id="rId3"/>
    <p:sldId id="282" r:id="rId4"/>
    <p:sldId id="285" r:id="rId5"/>
    <p:sldId id="278" r:id="rId6"/>
    <p:sldId id="297" r:id="rId7"/>
    <p:sldId id="298" r:id="rId8"/>
    <p:sldId id="279" r:id="rId9"/>
    <p:sldId id="292" r:id="rId10"/>
    <p:sldId id="262" r:id="rId11"/>
    <p:sldId id="293" r:id="rId12"/>
    <p:sldId id="290" r:id="rId13"/>
    <p:sldId id="294" r:id="rId14"/>
    <p:sldId id="291" r:id="rId15"/>
    <p:sldId id="286" r:id="rId16"/>
    <p:sldId id="287" r:id="rId17"/>
    <p:sldId id="280" r:id="rId18"/>
    <p:sldId id="288" r:id="rId19"/>
    <p:sldId id="289" r:id="rId20"/>
    <p:sldId id="295" r:id="rId21"/>
    <p:sldId id="296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atharvajadhav2007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quaregia3213/Predictive_Maintenance_IB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Machine Learning with IBM Cloud”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64867031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7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Email ID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lang="en-US"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lang="en-US"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Atharva Madan Jadhav</a:t>
                      </a:r>
                      <a:endParaRPr sz="20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AICTE/</a:t>
                      </a:r>
                      <a:r>
                        <a:rPr lang="en-US" dirty="0" err="1"/>
                        <a:t>Edunet</a:t>
                      </a:r>
                      <a:r>
                        <a:rPr lang="en-US" dirty="0"/>
                        <a:t> Registered – </a:t>
                      </a:r>
                      <a:r>
                        <a:rPr lang="en-US" dirty="0">
                          <a:hlinkClick r:id="rId3"/>
                        </a:rPr>
                        <a:t>jatharvajadhav2007@gmail.com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IBM SKILLBUILD – jatharvajadhav14@gmail.com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+91 9322829789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Project – </a:t>
            </a:r>
            <a:r>
              <a:rPr lang="en-US" sz="2400" b="1" dirty="0"/>
              <a:t>Manufacturing / Industrial Engineering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Title – 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Times New Roman"/>
                <a:cs typeface="Times New Roman"/>
                <a:sym typeface="Times New Roman"/>
              </a:rPr>
              <a:t>Predictive Maintenance of Industrial Machinery</a:t>
            </a:r>
            <a:endParaRPr lang="en-IN" sz="2400" b="1" dirty="0">
              <a:solidFill>
                <a:schemeClr val="tx1"/>
              </a:solidFill>
              <a:highlight>
                <a:srgbClr val="FFFF00"/>
              </a:highlight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351954" y="924749"/>
            <a:ext cx="11357834" cy="53290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sz="2400" b="1" dirty="0"/>
              <a:t>Problem Statement: Predictive Maintenance of Industrial Machinery (PS 39)</a:t>
            </a:r>
          </a:p>
          <a:p>
            <a:pPr fontAlgn="base"/>
            <a:endParaRPr lang="en-US" sz="2000" b="1" dirty="0"/>
          </a:p>
          <a:p>
            <a:pPr fontAlgn="base">
              <a:lnSpc>
                <a:spcPct val="150000"/>
              </a:lnSpc>
            </a:pPr>
            <a:r>
              <a:rPr lang="en-US" sz="2000" dirty="0"/>
              <a:t>Industrial machines such as </a:t>
            </a:r>
            <a:r>
              <a:rPr lang="en-US" sz="2000" b="1" dirty="0"/>
              <a:t>CNC mills, lathes, and pumps</a:t>
            </a:r>
            <a:r>
              <a:rPr lang="en-US" sz="2000" dirty="0"/>
              <a:t> are critical to manufacturing but are vulnerable to unexpected failures that result in production downtime, expensive repairs, and reduced efficiency. Conventional maintenance strategies, whether reactive or time-based, often fail to detect early signs of failure, leading to unnecessary maintenance or sudden breakdowns. This project addresses the problem by developing a </a:t>
            </a:r>
            <a:r>
              <a:rPr lang="en-US" sz="2000" b="1" dirty="0"/>
              <a:t>multi-class machine learning model</a:t>
            </a:r>
            <a:r>
              <a:rPr lang="en-US" sz="2000" dirty="0"/>
              <a:t> that analyzes real-time sensor data, including </a:t>
            </a:r>
            <a:r>
              <a:rPr lang="en-US" sz="2000" b="1" dirty="0"/>
              <a:t>air temperature, process temperature, rotational speed, torque, and tool wear</a:t>
            </a:r>
            <a:r>
              <a:rPr lang="en-US" sz="2000" dirty="0"/>
              <a:t>, to accurately predict different machine failure types such as </a:t>
            </a:r>
            <a:r>
              <a:rPr lang="en-US" sz="2000" b="1" dirty="0"/>
              <a:t>Tool Wear, Heat Dissipation, Power, and Overstrain Failures</a:t>
            </a:r>
            <a:r>
              <a:rPr lang="en-US" sz="2000" dirty="0"/>
              <a:t>. The solution enables </a:t>
            </a:r>
            <a:r>
              <a:rPr lang="en-US" sz="2000" b="1" dirty="0"/>
              <a:t>predictive maintenance</a:t>
            </a:r>
            <a:r>
              <a:rPr lang="en-US" sz="2000" dirty="0"/>
              <a:t>, helping industries reduce downtime, optimize maintenance schedules, improve equipment reliability, and lower operational costs.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1954" y="401529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Problem Statement</a:t>
            </a:r>
            <a:r>
              <a:rPr lang="en-US" sz="2800" b="1" dirty="0"/>
              <a:t>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23880" y="674734"/>
            <a:ext cx="11131336" cy="64986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 machine learning-based </a:t>
            </a:r>
            <a:r>
              <a:rPr lang="en-US" sz="2000" b="1" dirty="0"/>
              <a:t>Predictive Maintenance System</a:t>
            </a:r>
            <a:r>
              <a:rPr lang="en-US" sz="2000" dirty="0"/>
              <a:t> built on </a:t>
            </a:r>
            <a:r>
              <a:rPr lang="en-US" sz="2000" b="1" dirty="0"/>
              <a:t>IBM watsonx.ai Studio</a:t>
            </a:r>
            <a:r>
              <a:rPr lang="en-US" sz="2000" dirty="0"/>
              <a:t> using </a:t>
            </a:r>
            <a:r>
              <a:rPr lang="en-US" sz="2000" b="1" dirty="0" err="1"/>
              <a:t>AutoAI</a:t>
            </a:r>
            <a:r>
              <a:rPr lang="en-US" sz="2000" dirty="0"/>
              <a:t>. The </a:t>
            </a:r>
            <a:r>
              <a:rPr lang="en-US" sz="2000" b="1" dirty="0"/>
              <a:t>Kaggle Machine Predictive Maintenance dataset</a:t>
            </a:r>
            <a:r>
              <a:rPr lang="en-US" sz="2000" dirty="0"/>
              <a:t>  was uploaded to the project and used to train a multi-class classification model. </a:t>
            </a:r>
            <a:r>
              <a:rPr lang="en-US" sz="2000" dirty="0" err="1"/>
              <a:t>AutoAI</a:t>
            </a:r>
            <a:r>
              <a:rPr lang="en-US" sz="2000" dirty="0"/>
              <a:t> automatically performed data preprocessing, feature engineering, algorithm selection, and hyperparameter optimization — generating </a:t>
            </a:r>
            <a:r>
              <a:rPr lang="en-US" sz="2000" b="1" dirty="0"/>
              <a:t>9 pipelines</a:t>
            </a:r>
            <a:r>
              <a:rPr lang="en-US" sz="2000" dirty="0"/>
              <a:t> in under 5 minutes. The best-performing model, </a:t>
            </a:r>
            <a:r>
              <a:rPr lang="en-US" sz="2000" b="1" dirty="0"/>
              <a:t>Batched Tree Ensemble Classifier — Snap Random Forest </a:t>
            </a:r>
            <a:r>
              <a:rPr lang="en-US" sz="2000" dirty="0"/>
              <a:t>achieved </a:t>
            </a:r>
            <a:r>
              <a:rPr lang="en-US" sz="2000" b="1" dirty="0"/>
              <a:t>99.5% accuracy</a:t>
            </a:r>
            <a:r>
              <a:rPr lang="en-US" sz="2000" dirty="0"/>
              <a:t> with HPO-1, FE, HPO-2, and BATCH enhancements. The model was saved, promoted to a </a:t>
            </a:r>
            <a:r>
              <a:rPr lang="en-US" sz="2000" b="1" dirty="0"/>
              <a:t>deployment space</a:t>
            </a:r>
            <a:r>
              <a:rPr lang="en-US" sz="2000" dirty="0"/>
              <a:t>, and deployed as an </a:t>
            </a:r>
            <a:r>
              <a:rPr lang="en-US" sz="2000" b="1" dirty="0"/>
              <a:t>Online deployment using IBM </a:t>
            </a:r>
            <a:r>
              <a:rPr lang="en-US" sz="2000" b="1" dirty="0" err="1"/>
              <a:t>WatsonMachineLearning</a:t>
            </a:r>
            <a:r>
              <a:rPr lang="en-US" sz="2000" b="1" dirty="0"/>
              <a:t> (watsonx.ai Runtime)</a:t>
            </a:r>
            <a:r>
              <a:rPr lang="en-US" sz="2000" dirty="0"/>
              <a:t> service — enabling real-time predictions of machine failure type including No Failure, Power Failure, Tool Wear Failure, Overstrain Failure, and Heat Dissipation Failure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158538" y="20304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324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Cloud </a:t>
            </a:r>
            <a:r>
              <a:rPr lang="en-US" sz="2000" dirty="0"/>
              <a:t>– Provides the infrastructure to build, deploy, and scale the Predictive Maintenance model. IBM Cloud enables a reliable, secure, and scalable environment for model training and deployment using watsonx.ai Studio.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ML Studio</a:t>
            </a:r>
            <a:r>
              <a:rPr lang="en-US" sz="2000" dirty="0"/>
              <a:t> – </a:t>
            </a:r>
            <a:r>
              <a:rPr lang="en-US" sz="2000" u="sng" dirty="0"/>
              <a:t>IBM watsonx.ai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ML Service</a:t>
            </a:r>
            <a:r>
              <a:rPr lang="en-US" sz="2000" dirty="0"/>
              <a:t> – </a:t>
            </a:r>
            <a:r>
              <a:rPr lang="en-US" sz="2000" b="1" dirty="0"/>
              <a:t>IBM </a:t>
            </a:r>
            <a:r>
              <a:rPr lang="en-US" sz="2000" b="1" dirty="0" err="1"/>
              <a:t>WatsonMachineLearning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AutoML</a:t>
            </a:r>
            <a:r>
              <a:rPr lang="en-US" sz="2000" dirty="0"/>
              <a:t> – </a:t>
            </a:r>
            <a:r>
              <a:rPr lang="en-US" sz="2000" b="1" dirty="0" err="1"/>
              <a:t>AutoAI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Dataset</a:t>
            </a:r>
            <a:r>
              <a:rPr lang="en-US" sz="2000" dirty="0"/>
              <a:t> - </a:t>
            </a:r>
            <a:r>
              <a:rPr lang="en-US" sz="2000" b="1" dirty="0"/>
              <a:t>Kaggle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ML Algorithm / Model Used: </a:t>
            </a:r>
            <a:r>
              <a:rPr lang="en-US" sz="2000" u="sng" dirty="0"/>
              <a:t>Batched Tree Ensemble Classifier (Snap Random Forest Classifier)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Accuracy Obtained:</a:t>
            </a:r>
            <a:r>
              <a:rPr lang="en-US" sz="2000" dirty="0"/>
              <a:t> </a:t>
            </a:r>
            <a:r>
              <a:rPr lang="en-US" sz="2000" u="sng" dirty="0"/>
              <a:t>99.5% (Cross Validation Score)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Enhancements and Hyperparameter Tuning:</a:t>
            </a:r>
            <a:r>
              <a:rPr lang="en-US" sz="2000" dirty="0"/>
              <a:t> </a:t>
            </a:r>
            <a:r>
              <a:rPr lang="en-US" sz="2000" u="sng" dirty="0"/>
              <a:t>HPO-1, Feature Engineering (FE), HPO-2, BATCH Specialization (INCR) — 9 Pipelines Generated.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2227-DA9D-347E-D40F-F61F3EB3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ADDC7-3D5D-D30F-5637-77607C077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891C7-86F0-B0DD-4E6F-EF36473CC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852"/>
            <a:ext cx="6282813" cy="4434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93B50-9A73-8D4A-F77F-CE42B26D0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3" y="1356852"/>
            <a:ext cx="5909187" cy="443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8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3938-D7E0-F16C-DAE8-CF64667E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BBC85-FDB5-803E-34A3-B12B1AFFC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7C137-D254-BB44-C737-AA5338C48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732"/>
            <a:ext cx="12192000" cy="65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01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Training Screenshots-</a:t>
            </a:r>
            <a:endParaRPr sz="2400" b="1" dirty="0">
              <a:sym typeface="Times New Roman"/>
            </a:endParaRPr>
          </a:p>
        </p:txBody>
      </p:sp>
      <p:pic>
        <p:nvPicPr>
          <p:cNvPr id="3" name="Picture 2" descr="pag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1371600"/>
            <a:ext cx="5730240" cy="52120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73024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E9DA-9746-A762-8833-E5EFDE23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B7DB0-4449-F017-CB57-F6EFC94CD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311" y="209551"/>
            <a:ext cx="10515600" cy="1500187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  <a:sym typeface="Times New Roman"/>
              </a:rPr>
              <a:t>Training Screenshots-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627856-E1C7-33ED-BC9B-A8E4AD71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1" y="1815397"/>
            <a:ext cx="5956372" cy="3218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56581F-2A14-39BD-B095-3F641F130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506" y="1815397"/>
            <a:ext cx="5722755" cy="32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37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Best Model Screenshot:</a:t>
            </a:r>
          </a:p>
        </p:txBody>
      </p:sp>
      <p:pic>
        <p:nvPicPr>
          <p:cNvPr id="3" name="Picture 2" descr="pag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1234440"/>
            <a:ext cx="117043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7590-A0B9-270B-575D-FD266555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404197"/>
          </a:xfrm>
        </p:spPr>
        <p:txBody>
          <a:bodyPr>
            <a:noAutofit/>
          </a:bodyPr>
          <a:lstStyle/>
          <a:p>
            <a:r>
              <a:rPr lang="en-US" sz="2800" b="1" dirty="0"/>
              <a:t>Testing Screenshot: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400" b="1" i="1" dirty="0">
                <a:latin typeface="+mn-lt"/>
              </a:rPr>
              <a:t>Test1</a:t>
            </a:r>
            <a:endParaRPr lang="en-US" sz="28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0292B-98EC-02FA-F7C3-B77CD7732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65CAA2-389B-BE32-3B2E-30E38BA55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1735887"/>
            <a:ext cx="5722933" cy="3386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9D36DC-DC52-14C3-72BA-DD994B663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56" y="1735887"/>
            <a:ext cx="5624517" cy="33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60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Testing Screenshot:</a:t>
            </a:r>
          </a:p>
        </p:txBody>
      </p:sp>
      <p:pic>
        <p:nvPicPr>
          <p:cNvPr id="3" name="Picture 2" descr="pag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771746"/>
            <a:ext cx="11704320" cy="608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0732-DD2F-72A0-5A3A-1E20D26C4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47" y="571704"/>
            <a:ext cx="10515600" cy="787656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j-lt"/>
              </a:rPr>
              <a:t>Testing Screenshot:</a:t>
            </a:r>
            <a:br>
              <a:rPr lang="en-US" sz="2800" b="1" dirty="0">
                <a:latin typeface="+mj-lt"/>
              </a:rPr>
            </a:br>
            <a:br>
              <a:rPr lang="en-US" sz="2800" b="1" dirty="0">
                <a:latin typeface="+mj-lt"/>
              </a:rPr>
            </a:br>
            <a:r>
              <a:rPr lang="en-US" sz="2700" b="1" i="1" dirty="0">
                <a:latin typeface="+mj-lt"/>
              </a:rPr>
              <a:t>Test2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03693-CCD4-354A-62CA-9C82950BD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22DBC-8DD7-6EE5-A5AD-C05E355A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76" y="1359360"/>
            <a:ext cx="10225548" cy="521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72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C2F13-C09F-1D50-6289-15F22A1D77FA}"/>
              </a:ext>
            </a:extLst>
          </p:cNvPr>
          <p:cNvSpPr txBox="1"/>
          <p:nvPr/>
        </p:nvSpPr>
        <p:spPr>
          <a:xfrm>
            <a:off x="414759" y="207380"/>
            <a:ext cx="281650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Calibri"/>
              </a:rPr>
              <a:t>Testing Screenshot: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6" name="Picture 5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688258"/>
            <a:ext cx="11704320" cy="616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769628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IN" sz="1800" dirty="0"/>
              <a:t>Shifts industrial maintenance from reactive/scheduled to intelligent predictive approach, preventing failures before they occur.</a:t>
            </a:r>
            <a:endParaRPr lang="en-US" dirty="0"/>
          </a:p>
          <a:p>
            <a:pPr marL="285750" indent="-285750">
              <a:buChar char="•"/>
            </a:pPr>
            <a:r>
              <a:rPr lang="en-IN" sz="1800" dirty="0"/>
              <a:t>Uses IBM watsonx.ai </a:t>
            </a:r>
            <a:r>
              <a:rPr lang="en-IN" sz="1800" dirty="0" err="1"/>
              <a:t>AutoAI</a:t>
            </a:r>
            <a:r>
              <a:rPr lang="en-IN" sz="1800" dirty="0"/>
              <a:t> to automatically discover the best classification algorithm without manual coding — Batched Tree Ensemble Classifier achieved 99.5% </a:t>
            </a:r>
            <a:r>
              <a:rPr lang="en-IN" sz="1800" dirty="0" err="1"/>
              <a:t>accuracy.</a:t>
            </a:r>
            <a:r>
              <a:rPr lang="en-IN" sz="1800" b="1" dirty="0" err="1"/>
              <a:t>Uses</a:t>
            </a:r>
            <a:r>
              <a:rPr lang="en-IN" sz="1800" b="1" dirty="0"/>
              <a:t> IBM watsonx.ai </a:t>
            </a:r>
            <a:r>
              <a:rPr lang="en-IN" sz="1800" b="1" dirty="0" err="1"/>
              <a:t>AutoAI</a:t>
            </a:r>
            <a:r>
              <a:rPr lang="en-IN" sz="1800" b="1" dirty="0"/>
              <a:t> to automatically discover the best classification algorithm without manual coding — Batched Tree Ensemble Classifier achieved 99.5% </a:t>
            </a:r>
            <a:r>
              <a:rPr lang="en-IN" sz="1800" b="1" dirty="0" err="1"/>
              <a:t>accuracy.Uses</a:t>
            </a:r>
            <a:r>
              <a:rPr lang="en-IN" sz="1800" b="1" dirty="0"/>
              <a:t> IBM watsonx.ai </a:t>
            </a:r>
            <a:r>
              <a:rPr lang="en-IN" sz="1800" b="1" dirty="0" err="1"/>
              <a:t>AutoAI</a:t>
            </a:r>
            <a:r>
              <a:rPr lang="en-IN" sz="1800" b="1" dirty="0"/>
              <a:t> to automatically discover the best classification algorithm without manual coding — Batched Tree Ensemble Classifier achieved 99.5% </a:t>
            </a:r>
            <a:r>
              <a:rPr lang="en-IN" sz="1800" b="1" dirty="0" err="1"/>
              <a:t>accuracy.</a:t>
            </a:r>
            <a:r>
              <a:rPr lang="en-IN" sz="1800" dirty="0" err="1"/>
              <a:t>Uses</a:t>
            </a:r>
            <a:r>
              <a:rPr lang="en-IN" sz="1800" dirty="0"/>
              <a:t> IBM watsonx.ai </a:t>
            </a:r>
            <a:r>
              <a:rPr lang="en-IN" sz="1800" dirty="0" err="1"/>
              <a:t>AutoAI</a:t>
            </a:r>
            <a:r>
              <a:rPr lang="en-IN" sz="1800" dirty="0"/>
              <a:t> to automatically discover the best classification algorithm without manual coding — Batched Tree Ensemble Classifier achieved 99.5% accuracy.</a:t>
            </a:r>
            <a:endParaRPr lang="en-IN" dirty="0"/>
          </a:p>
          <a:p>
            <a:pPr marL="285750" indent="-285750">
              <a:buChar char="•"/>
            </a:pPr>
            <a:r>
              <a:rPr lang="en-IN" sz="1800" dirty="0"/>
              <a:t>Classifies the specific type of failure (Tool Wear, Power, Overstrain, Heat Dissipation) — not just whether failure will occur — enabling targeted maintenance actions.</a:t>
            </a:r>
            <a:endParaRPr lang="en-IN" dirty="0"/>
          </a:p>
          <a:p>
            <a:pPr marL="285750" indent="-285750">
              <a:buChar char="•"/>
            </a:pPr>
            <a:r>
              <a:rPr lang="en-IN" sz="1800" dirty="0"/>
              <a:t>Automated Feature Engineering (FE) and two rounds of Hyperparameter Optimization (HPO-1, HPO-2) ensure the model is fine-tuned for maximum performance.</a:t>
            </a:r>
            <a:endParaRPr lang="en-IN" dirty="0"/>
          </a:p>
          <a:p>
            <a:pPr marL="285750" indent="-285750">
              <a:buChar char="•"/>
            </a:pPr>
            <a:r>
              <a:rPr lang="en-IN" sz="1800" dirty="0"/>
              <a:t>Can be integrated with real-time IoT sensors on factory floors for live fault prediction and deployed across entire manufacturing plants at enterprise scale.</a:t>
            </a:r>
            <a:endParaRPr lang="en-IN" dirty="0"/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277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public GitHub repository (enable Add README while creating) with format: 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Paste your working GitHub URL here: </a:t>
            </a: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- 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https://github.com/aquaregia3213/Predictive_Maintenance_IBM</a:t>
            </a:r>
            <a:endParaRPr lang="en-US" sz="1850" b="1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these 4 files:  1) predictive_maintenance.csv    2) Problem_Statement_PS39.pdf    3) PS39_Predictive_Maintenance.pptx    4)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AutoAI_Notebook.ipynb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(download from IBM watsonx.ai)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Integration with live IoT sensor streams for real-time fault prediction and automated maintenance scheduling on factory floors.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Extend the model to support more machine types, failure categories, and industrial environments beyond manufacturing.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Deploy as an interactive dashboard for factory floor supervisors with real-time alert notifications and maintenance recommendations.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Incorporate deep learning models (LSTM, CNN) for improved accuracy on complex time-series failure pattern detection.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Scale across entire manufacturing plants and supply chains for enterprise-wide predictive maintenance and cost optimization.</a:t>
            </a:r>
            <a:endParaRPr lang="en-US"/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1850" b="1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Replace this image with your IBM </a:t>
            </a:r>
            <a:r>
              <a:rPr lang="en-US" sz="1600" b="1" dirty="0" err="1"/>
              <a:t>SkillsBuild</a:t>
            </a:r>
            <a:r>
              <a:rPr lang="en-US" sz="1600" b="1" dirty="0"/>
              <a:t> </a:t>
            </a:r>
            <a:r>
              <a:rPr lang="en-US" sz="1600" b="1" dirty="0" err="1"/>
              <a:t>Credly</a:t>
            </a:r>
            <a:r>
              <a:rPr lang="en-US" sz="1600" b="1" dirty="0"/>
              <a:t> badge screenshot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EBFD48-CBE2-4464-0100-BD4FB7D9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61" y="1232627"/>
            <a:ext cx="7223991" cy="541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Replace this image with your IBM SkillsBuild course completion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9870C0-DD91-B151-8E17-568B03A0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249" y="1338831"/>
            <a:ext cx="7375502" cy="551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B3B8CA-529E-FA20-F174-6D9421413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04" y="200783"/>
            <a:ext cx="8612443" cy="645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042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07F6F-9DC3-345D-6AFE-E8151F070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565"/>
            <a:ext cx="6096000" cy="3546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0BC5F3-7112-99F0-6ABA-3497D9A03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569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6B37E0-B74E-7C0A-8BB1-EE225312E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857" y="3591675"/>
            <a:ext cx="6106143" cy="32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57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921</Words>
  <Application>Microsoft Office PowerPoint</Application>
  <PresentationFormat>Widescreen</PresentationFormat>
  <Paragraphs>69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Screenshot:  Test1</vt:lpstr>
      <vt:lpstr>PowerPoint Presentation</vt:lpstr>
      <vt:lpstr>Testing Screenshot:  Test2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Atharva Jadhav</cp:lastModifiedBy>
  <cp:revision>5</cp:revision>
  <dcterms:created xsi:type="dcterms:W3CDTF">2025-07-08T05:06:56Z</dcterms:created>
  <dcterms:modified xsi:type="dcterms:W3CDTF">2026-06-29T12:48:17Z</dcterms:modified>
</cp:coreProperties>
</file>